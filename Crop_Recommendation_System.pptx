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704-4C48-AE52-6AF3DDF580BC}"/>
              </c:ext>
            </c:extLst>
          </c:dPt>
          <c:dPt>
            <c:idx val="1"/>
            <c:invertIfNegative val="0"/>
            <c:bubble3D val="0"/>
            <c:spPr>
              <a:solidFill>
                <a:srgbClr val="97B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704-4C48-AE52-6AF3DDF580BC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704-4C48-AE52-6AF3DDF580B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C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Decision Tree</c:v>
                </c:pt>
                <c:pt idx="2">
                  <c:v>KNN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99.6</c:v>
                </c:pt>
                <c:pt idx="1">
                  <c:v>98.58</c:v>
                </c:pt>
                <c:pt idx="2">
                  <c:v>97.9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704-4C48-AE52-6AF3DDF580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1"/>
          <c:min val="9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8F0E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C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ph</c:v>
                </c:pt>
                <c:pt idx="1">
                  <c:v>temperature</c:v>
                </c:pt>
                <c:pt idx="2">
                  <c:v>N</c:v>
                </c:pt>
                <c:pt idx="3">
                  <c:v>P</c:v>
                </c:pt>
                <c:pt idx="4">
                  <c:v>K</c:v>
                </c:pt>
                <c:pt idx="5">
                  <c:v>rainfall</c:v>
                </c:pt>
                <c:pt idx="6">
                  <c:v>humidity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3.0700000000000002E-2</c:v>
                </c:pt>
                <c:pt idx="1">
                  <c:v>5.16E-2</c:v>
                </c:pt>
                <c:pt idx="2">
                  <c:v>6.5600000000000006E-2</c:v>
                </c:pt>
                <c:pt idx="3">
                  <c:v>0.11</c:v>
                </c:pt>
                <c:pt idx="4">
                  <c:v>0.14849999999999999</c:v>
                </c:pt>
                <c:pt idx="5">
                  <c:v>0.20369999999999999</c:v>
                </c:pt>
                <c:pt idx="6">
                  <c:v>0.2089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17-474D-AEFD-13E9690B5B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8F0E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871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Recommendation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Soil &amp; Climate Data to Recommend the Best Crop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566160"/>
            <a:ext cx="50292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Adithyan  ·  Abhita   |   Predictive Analytics — Group Project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206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KNN  ·  Decision Tree  · 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256032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data-driven guidance on crop selection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crop choice leads to poor yield and financial loss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use of water, fertiliser, and resources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personalised system based on actual soil &amp; climate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023360" cy="256032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crop recommendation 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7 soil &amp; climate inputs from farmers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2200 samples across 22 crops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an interactive web app on Streamlit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  ·  22 Crops  ·  3 Models  ·  1 Web App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128016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777240"/>
            <a:ext cx="2011680" cy="128016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6888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Classes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2011680" cy="128016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777240"/>
            <a:ext cx="2011680" cy="128016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800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4114800" cy="21945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Nitrogen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Phosphorus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Potassium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kg/ha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humidity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pH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rainfall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75488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Crop Classes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754880" y="2606040"/>
            <a:ext cx="4023360" cy="219456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892040" y="269748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· banana · blackgram · chickpea · coconut · coffee · cotton · grapes · jute · kidneybeans · lentil · maize · mango · mothbeans · mungbean · muskmelon · orange · papaya · pigeonpeas · pomegranate · rice · watermelon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26" name="Text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Crop Recommendation Dataset  ·  Zero missing values  ·  Zero duplicates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LIFE CYCLE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554480" cy="155448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93392" y="822960"/>
            <a:ext cx="1554480" cy="155448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93392" y="914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93392" y="1188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93392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12464" y="822960"/>
            <a:ext cx="1554480" cy="155448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914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12464" y="1188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12464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31536" y="822960"/>
            <a:ext cx="1554480" cy="155448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31536" y="914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31536" y="1188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31536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50608" y="822960"/>
            <a:ext cx="1554480" cy="155448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50608" y="914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50608" y="1188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50608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1554480" cy="155448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2834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3108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Adithyan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93392" y="2743200"/>
            <a:ext cx="1554480" cy="155448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93392" y="2834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93392" y="3108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93392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12464" y="2743200"/>
            <a:ext cx="1554480" cy="155448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12464" y="2834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12464" y="3108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(SHAP)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12464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Abhita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31536" y="2743200"/>
            <a:ext cx="1554480" cy="155448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31536" y="2834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31536" y="3108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31536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Abhita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50608" y="2743200"/>
            <a:ext cx="1554480" cy="1554480"/>
          </a:xfrm>
          <a:prstGeom prst="rect">
            <a:avLst/>
          </a:prstGeom>
          <a:solidFill>
            <a:srgbClr val="F4A42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150608" y="2834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50608" y="31089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PPT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50608" y="3931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663440"/>
            <a:ext cx="228600" cy="18288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645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Adithyan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103120" y="4663440"/>
            <a:ext cx="228600" cy="1828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7" name="Text 45"/>
          <p:cNvSpPr/>
          <p:nvPr/>
        </p:nvSpPr>
        <p:spPr>
          <a:xfrm>
            <a:off x="2377440" y="4645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Abhita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0" y="4663440"/>
            <a:ext cx="228600" cy="182880"/>
          </a:xfrm>
          <a:prstGeom prst="rect">
            <a:avLst/>
          </a:prstGeom>
          <a:solidFill>
            <a:srgbClr val="F4A423"/>
          </a:solidFill>
          <a:ln/>
        </p:spPr>
      </p:sp>
      <p:sp>
        <p:nvSpPr>
          <p:cNvPr id="49" name="Text 47"/>
          <p:cNvSpPr/>
          <p:nvPr/>
        </p:nvSpPr>
        <p:spPr>
          <a:xfrm>
            <a:off x="3931920" y="46451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73736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68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Perfectly Balanced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100 samples per crop across all 22 classes. No class imbalance handling required.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743200" cy="173736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777240"/>
            <a:ext cx="27432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868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Humidity &amp; Rainfall Dominate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280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and rainfall show the strongest variation across crop classes — key discriminators.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2743200" cy="173736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777240"/>
            <a:ext cx="27432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868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P-K Correlation: 0.74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280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Phosphorus and Potassium are highly correlated, indicating potential multicollinearity.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2743200" cy="173736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97480"/>
            <a:ext cx="27432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 pH Least Influential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2004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shows the least variation across crops and contributes minimally to model decisions.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697480"/>
            <a:ext cx="2743200" cy="173736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697480"/>
            <a:ext cx="27432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N Varies Widely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2004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ranges from 0–140 kg/ha showing clear crop-specific nutrient requirements.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697480"/>
            <a:ext cx="2743200" cy="173736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97480"/>
            <a:ext cx="27432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Clear Class Separation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2004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Pairplots show distinct clusters, suggesting strong separability for ML classification.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Visualizations: class distribution · correlation heatmap · box plots · violin plots · pairplot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&amp; COMPARISON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320040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🥇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2468880" cy="82296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99.60%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" y="2697480"/>
            <a:ext cx="2468880" cy="82296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n_estimators=100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max_depth=10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min_samples_split=5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777240"/>
            <a:ext cx="2743200" cy="3200400"/>
          </a:xfrm>
          <a:prstGeom prst="rect">
            <a:avLst/>
          </a:prstGeom>
          <a:solidFill>
            <a:srgbClr val="97BC6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822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🥈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0040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37560" y="1737360"/>
            <a:ext cx="2468880" cy="82296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98.58%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337560" y="2697480"/>
            <a:ext cx="2468880" cy="82296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98.18%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criterion=gini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max_depth=15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min_samples_split=5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777240"/>
            <a:ext cx="2743200" cy="3200400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822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🥉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2648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63640" y="1737360"/>
            <a:ext cx="2468880" cy="82296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97.90%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263640" y="2697480"/>
            <a:ext cx="2468880" cy="82296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97.73%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2648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metric=manhattan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n_neighbors=5</a:t>
            </a:r>
            <a:endParaRPr lang="en-US" sz="900" dirty="0"/>
          </a:p>
        </p:txBody>
      </p:sp>
      <p:graphicFrame>
        <p:nvGraphicFramePr>
          <p:cNvPr id="34" name="Chart 0"/>
          <p:cNvGraphicFramePr/>
          <p:nvPr/>
        </p:nvGraphicFramePr>
        <p:xfrm>
          <a:off x="274320" y="4160520"/>
          <a:ext cx="8595360" cy="77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SHAP EXPLAINABILITY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Feature Importances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45720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120640" y="731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Key Insights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120640" y="1097280"/>
            <a:ext cx="3657600" cy="59436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120640" y="1097280"/>
            <a:ext cx="457200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0" y="10972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23560" y="11430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23560" y="13716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influential globally across all 22 crops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120640" y="1783080"/>
            <a:ext cx="3657600" cy="59436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20640" y="1783080"/>
            <a:ext cx="457200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1"/>
          <p:cNvSpPr/>
          <p:nvPr/>
        </p:nvSpPr>
        <p:spPr>
          <a:xfrm>
            <a:off x="5120640" y="17830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2356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23560" y="20574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most important — drives crops like rice, jute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120640" y="2468880"/>
            <a:ext cx="3657600" cy="59436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20640" y="2468880"/>
            <a:ext cx="457200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24688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23560" y="25146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(Potassium)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23560" y="27432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 for fruit crops like orange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120640" y="3154680"/>
            <a:ext cx="3657600" cy="59436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120640" y="3154680"/>
            <a:ext cx="457200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1"/>
          <p:cNvSpPr/>
          <p:nvPr/>
        </p:nvSpPr>
        <p:spPr>
          <a:xfrm>
            <a:off x="5120640" y="31546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623560" y="3200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(Phosphorus)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23560" y="34290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for legumes like chickpea, lentil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120640" y="3840480"/>
            <a:ext cx="3657600" cy="59436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120640" y="3840480"/>
            <a:ext cx="457200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6"/>
          <p:cNvSpPr/>
          <p:nvPr/>
        </p:nvSpPr>
        <p:spPr>
          <a:xfrm>
            <a:off x="5120640" y="38404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623560" y="38862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623560" y="41148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influential — consistent across most crops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33" name="Text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used for model interpretability — Lundberg &amp; Lee, 2017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840480" cy="41148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  7 interactive sliders for soil &amp; climate 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840480" cy="41148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Predicted crop with confidence score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3840480" cy="41148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240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Probability bar chart for all 22 crops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3840480" cy="41148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743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SHAP waterfall explanation per prediction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3840480" cy="41148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246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Input validation — no crashes on edge cases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3840480" cy="41148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749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Sample crop requirements table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384048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343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App: https://crop-recommendation-system-acyz8kpnjckjjn4xbhapprk.streamlit.app/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023360" cy="137160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Values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508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N=90  P=42  K=43  Temp=21°C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Humidity=82%  pH=6.5  Rainfall=203mm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651760"/>
            <a:ext cx="4023360" cy="109728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🍚  Recommended Crop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971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846320" y="34564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90.0%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840480"/>
            <a:ext cx="4023360" cy="1005840"/>
          </a:xfrm>
          <a:prstGeom prst="rect">
            <a:avLst/>
          </a:prstGeom>
          <a:solidFill>
            <a:srgbClr val="E8F0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3886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1605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(+0.24) · N (+0.17) · Humidity (+0.16)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(+0.12) · Temperature (+0.09)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3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COLLABORATION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828800" cy="100584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777240"/>
            <a:ext cx="1828800" cy="100584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1298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1828800" cy="100584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298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777240"/>
            <a:ext cx="1828800" cy="1005840"/>
          </a:xfrm>
          <a:prstGeom prst="rect">
            <a:avLst/>
          </a:prstGeom>
          <a:solidFill>
            <a:srgbClr val="1A3C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822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298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Strategy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3840480" cy="347472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2377440"/>
            <a:ext cx="7315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377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feature/data-preprocessing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08960" y="23774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S5, S6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3840480" cy="347472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2788920"/>
            <a:ext cx="7315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feature/eda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08960" y="2788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S2, S4, S7, S8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3840480" cy="347472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200400"/>
            <a:ext cx="7315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200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feature/modelling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08960" y="32004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611880"/>
            <a:ext cx="3840480" cy="347472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3611880"/>
            <a:ext cx="7315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611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feature/streamlit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08960" y="36118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deployment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023360"/>
            <a:ext cx="3840480" cy="347472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4023360"/>
            <a:ext cx="7315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023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feature/evaluation-explainability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108960" y="40233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S7, S8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434840"/>
            <a:ext cx="3840480" cy="347472"/>
          </a:xfrm>
          <a:prstGeom prst="rect">
            <a:avLst/>
          </a:prstGeom>
          <a:solidFill>
            <a:srgbClr val="E8F0E9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" y="4434840"/>
            <a:ext cx="73152" cy="34747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4434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feature/documentation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08960" y="44348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PPT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Summary</a:t>
            </a:r>
            <a:endParaRPr lang="en-US" sz="15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331720"/>
          <a:ext cx="4023360" cy="2682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2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Adithyan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Abhita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— Problem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—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— Preprocessing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— EDA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—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 — Modelling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 —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 — SHAP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 —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 —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0" y="274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0" y="1600200"/>
            <a:ext cx="36576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828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Random Forest achieved 99.55% test accuracy — best among 3 models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30428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SHAP explainability confirms humidity &amp; rainfall as top predictors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77977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Perfectly balanced dataset ensured unbiased model training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25526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 Streamlit app deployed with real-time SHAP explanations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73075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Future: mobile app, real-time soil sensor integration, more crops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4206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Future: deep learning models, regional crop databases, multilingual UI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884</Words>
  <Application>Microsoft Office PowerPoint</Application>
  <PresentationFormat>On-screen Show (16:9)</PresentationFormat>
  <Paragraphs>254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Recommendation System</dc:title>
  <dc:subject>PptxGenJS Presentation</dc:subject>
  <dc:creator>Adithyan &amp; Abhita</dc:creator>
  <cp:lastModifiedBy>adithyanb276@gmail.com</cp:lastModifiedBy>
  <cp:revision>2</cp:revision>
  <dcterms:created xsi:type="dcterms:W3CDTF">2026-05-15T09:54:19Z</dcterms:created>
  <dcterms:modified xsi:type="dcterms:W3CDTF">2026-05-15T10:26:29Z</dcterms:modified>
</cp:coreProperties>
</file>